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795A116-60FE-D57D-A84C-0EB8226321B9}">
          <p14:sldIdLst>
            <p14:sldId id="256"/>
            <p14:sldId id="257"/>
          </p14:sldIdLst>
        </p14:section>
        <p14:section name="Home" id="{3BD8A541-5301-FD8A-3BDA-3A47D60B3229}">
          <p14:sldIdLst>
            <p14:sldId id="258"/>
            <p14:sldId id="259"/>
          </p14:sldIdLst>
        </p14:section>
        <p14:section name="Intelligence" id="{536F763B-6FD6-A094-12A2-49B1B5F2383E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9D6FF"/>
                </a:solidFill>
                <a:latin typeface="+mn-lt"/>
              </a:defRPr>
            </a:pPr>
            <a:r>
              <a:rPr lang="en-IN" sz="1200" b="0" i="0" u="none" strike="noStrike">
                <a:solidFill>
                  <a:srgbClr val="C9D6FF"/>
                </a:solidFill>
                <a:latin typeface="+mn-lt"/>
              </a:rPr>
              <a:t>Devices online per room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Devices online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5EA-41A3-AF1B-01905631D429}"/>
              </c:ext>
            </c:extLst>
          </c:dPt>
          <c:dPt>
            <c:idx val="1"/>
            <c:invertIfNegative val="0"/>
            <c:bubble3D val="0"/>
            <c:spPr>
              <a:solidFill>
                <a:srgbClr val="FF2E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EA-41A3-AF1B-01905631D429}"/>
              </c:ext>
            </c:extLst>
          </c:dPt>
          <c:dPt>
            <c:idx val="2"/>
            <c:invertIfNegative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EA-41A3-AF1B-01905631D429}"/>
              </c:ext>
            </c:extLst>
          </c:dPt>
          <c:dPt>
            <c:idx val="3"/>
            <c:invertIfNegative val="0"/>
            <c:bubble3D val="0"/>
            <c:spPr>
              <a:solidFill>
                <a:srgbClr val="FFC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EA-41A3-AF1B-01905631D42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Living</c:v>
                </c:pt>
                <c:pt idx="1">
                  <c:v>Bedroom</c:v>
                </c:pt>
                <c:pt idx="2">
                  <c:v>Kitchen</c:v>
                </c:pt>
                <c:pt idx="3">
                  <c:v>Office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5EA-41A3-AF1B-01905631D4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6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E5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0D2-4482-9580-10D6258A1C39}"/>
              </c:ext>
            </c:extLst>
          </c:dPt>
          <c:dPt>
            <c:idx val="1"/>
            <c:bubble3D val="0"/>
            <c:spPr>
              <a:solidFill>
                <a:srgbClr val="3A3F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D2-4482-9580-10D6258A1C39}"/>
              </c:ext>
            </c:extLst>
          </c:dPt>
          <c:cat>
            <c:strRef>
              <c:f>Sheet1!$A$2:$A$3</c:f>
              <c:strCache>
                <c:ptCount val="2"/>
                <c:pt idx="0">
                  <c:v>Efficiency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D2-4482-9580-10D6258A1C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61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SMART HOME 2050  |  INTELLIGENCE SYSTEM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marthomegowtham.netlify.app/login" TargetMode="External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hyperlink" Target="https://github.com/Gowtham1022-38/smarthome205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● SYSTEM ONLINE</a:t>
            </a:r>
            <a:endParaRPr lang="en-US" sz="1200" dirty="0"/>
          </a:p>
        </p:txBody>
      </p:sp>
      <p:sp>
        <p:nvSpPr>
          <p:cNvPr id="3" name="Text 2"/>
          <p:cNvSpPr txBox="1"/>
          <p:nvPr/>
        </p:nvSpPr>
        <p:spPr>
          <a:xfrm>
            <a:off x="54864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2050 INTELLIGENCE SYSTEM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Welcome to your Smart Future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Control your home, automate your routines and monitor your energy through one intelligent interface.</a:t>
            </a:r>
            <a:endParaRPr lang="en-US" sz="1600" dirty="0"/>
          </a:p>
        </p:txBody>
      </p:sp>
      <p:sp>
        <p:nvSpPr>
          <p:cNvPr id="6" name="Button 4"/>
          <p:cNvSpPr txBox="1"/>
          <p:nvPr/>
        </p:nvSpPr>
        <p:spPr>
          <a:xfrm>
            <a:off x="548640" y="3840480"/>
            <a:ext cx="1737360" cy="4572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Create Routine</a:t>
            </a:r>
            <a:endParaRPr lang="en-US" sz="1400" dirty="0"/>
          </a:p>
        </p:txBody>
      </p:sp>
      <p:sp>
        <p:nvSpPr>
          <p:cNvPr id="7" name="Button 5"/>
          <p:cNvSpPr txBox="1"/>
          <p:nvPr/>
        </p:nvSpPr>
        <p:spPr>
          <a:xfrm>
            <a:off x="2468880" y="3840480"/>
            <a:ext cx="1737360" cy="4572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Add Device</a:t>
            </a:r>
            <a:endParaRPr lang="en-US" sz="1400" dirty="0"/>
          </a:p>
        </p:txBody>
      </p:sp>
      <p:sp>
        <p:nvSpPr>
          <p:cNvPr id="8" name="Glass orb outer"/>
          <p:cNvSpPr/>
          <p:nvPr/>
        </p:nvSpPr>
        <p:spPr>
          <a:xfrm>
            <a:off x="6172200" y="1097280"/>
            <a:ext cx="2468880" cy="2468880"/>
          </a:xfrm>
          <a:prstGeom prst="ellipse">
            <a:avLst/>
          </a:prstGeom>
          <a:solidFill>
            <a:schemeClr val="bg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Glass orb inner"/>
          <p:cNvSpPr/>
          <p:nvPr/>
        </p:nvSpPr>
        <p:spPr>
          <a:xfrm>
            <a:off x="6537960" y="1463040"/>
            <a:ext cx="1737360" cy="1737360"/>
          </a:xfrm>
          <a:prstGeom prst="ellipse">
            <a:avLst/>
          </a:prstGeom>
          <a:solidFill>
            <a:schemeClr val="accent4">
              <a:alpha val="40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House icon" descr="Smart hom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737360"/>
            <a:ext cx="1188720" cy="1188720"/>
          </a:xfrm>
          <a:prstGeom prst="rect">
            <a:avLst/>
          </a:prstGeom>
        </p:spPr>
      </p:pic>
      <p:sp>
        <p:nvSpPr>
          <p:cNvPr id="11" name="Glass panel 6"/>
          <p:cNvSpPr/>
          <p:nvPr/>
        </p:nvSpPr>
        <p:spPr>
          <a:xfrm>
            <a:off x="5760720" y="3840480"/>
            <a:ext cx="2926080" cy="457200"/>
          </a:xfrm>
          <a:prstGeom prst="roundRect">
            <a:avLst>
              <a:gd name="adj" fmla="val 24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 txBox="1"/>
          <p:nvPr/>
        </p:nvSpPr>
        <p:spPr>
          <a:xfrm>
            <a:off x="576072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23°C    48%    96 AQI    4.8 kW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ENVIRONMENT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Live Dashboard</a:t>
            </a:r>
            <a:endParaRPr lang="en-US" sz="3600" dirty="0"/>
          </a:p>
        </p:txBody>
      </p:sp>
      <p:sp>
        <p:nvSpPr>
          <p:cNvPr id="4" name="Glass panel 9"/>
          <p:cNvSpPr/>
          <p:nvPr/>
        </p:nvSpPr>
        <p:spPr>
          <a:xfrm>
            <a:off x="548640" y="1280160"/>
            <a:ext cx="187452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Icon circle 10"/>
          <p:cNvSpPr/>
          <p:nvPr/>
        </p:nvSpPr>
        <p:spPr>
          <a:xfrm>
            <a:off x="731520" y="14447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con 10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570482"/>
            <a:ext cx="251460" cy="251460"/>
          </a:xfrm>
          <a:prstGeom prst="rect">
            <a:avLst/>
          </a:prstGeom>
        </p:spPr>
      </p:pic>
      <p:sp>
        <p:nvSpPr>
          <p:cNvPr id="7" name="Text 11"/>
          <p:cNvSpPr txBox="1"/>
          <p:nvPr/>
        </p:nvSpPr>
        <p:spPr>
          <a:xfrm>
            <a:off x="73152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Temperature</a:t>
            </a:r>
            <a:endParaRPr lang="en-US" sz="1200" dirty="0"/>
          </a:p>
        </p:txBody>
      </p:sp>
      <p:sp>
        <p:nvSpPr>
          <p:cNvPr id="8" name="Text 12"/>
          <p:cNvSpPr txBox="1"/>
          <p:nvPr/>
        </p:nvSpPr>
        <p:spPr>
          <a:xfrm>
            <a:off x="731520" y="2286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23°C</a:t>
            </a:r>
            <a:endParaRPr lang="en-US" sz="3000" dirty="0"/>
          </a:p>
        </p:txBody>
      </p:sp>
      <p:sp>
        <p:nvSpPr>
          <p:cNvPr id="9" name="Text 13"/>
          <p:cNvSpPr txBox="1"/>
          <p:nvPr/>
        </p:nvSpPr>
        <p:spPr>
          <a:xfrm>
            <a:off x="731520" y="2743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Comfortable</a:t>
            </a:r>
            <a:endParaRPr lang="en-US" sz="1200" dirty="0"/>
          </a:p>
        </p:txBody>
      </p:sp>
      <p:sp>
        <p:nvSpPr>
          <p:cNvPr id="10" name="Glass panel 14"/>
          <p:cNvSpPr/>
          <p:nvPr/>
        </p:nvSpPr>
        <p:spPr>
          <a:xfrm>
            <a:off x="2606040" y="1280160"/>
            <a:ext cx="187452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Icon circle 15"/>
          <p:cNvSpPr/>
          <p:nvPr/>
        </p:nvSpPr>
        <p:spPr>
          <a:xfrm>
            <a:off x="2788920" y="14447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con 15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650" y="1570482"/>
            <a:ext cx="251460" cy="251460"/>
          </a:xfrm>
          <a:prstGeom prst="rect">
            <a:avLst/>
          </a:prstGeom>
        </p:spPr>
      </p:pic>
      <p:sp>
        <p:nvSpPr>
          <p:cNvPr id="13" name="Text 16"/>
          <p:cNvSpPr txBox="1"/>
          <p:nvPr/>
        </p:nvSpPr>
        <p:spPr>
          <a:xfrm>
            <a:off x="278892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Humidity</a:t>
            </a:r>
            <a:endParaRPr lang="en-US" sz="1200" dirty="0"/>
          </a:p>
        </p:txBody>
      </p:sp>
      <p:sp>
        <p:nvSpPr>
          <p:cNvPr id="14" name="Text 17"/>
          <p:cNvSpPr txBox="1"/>
          <p:nvPr/>
        </p:nvSpPr>
        <p:spPr>
          <a:xfrm>
            <a:off x="2788920" y="2286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48%</a:t>
            </a:r>
            <a:endParaRPr lang="en-US" sz="3000" dirty="0"/>
          </a:p>
        </p:txBody>
      </p:sp>
      <p:sp>
        <p:nvSpPr>
          <p:cNvPr id="15" name="Text 18"/>
          <p:cNvSpPr txBox="1"/>
          <p:nvPr/>
        </p:nvSpPr>
        <p:spPr>
          <a:xfrm>
            <a:off x="2788920" y="2743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Optimal</a:t>
            </a:r>
            <a:endParaRPr lang="en-US" sz="1200" dirty="0"/>
          </a:p>
        </p:txBody>
      </p:sp>
      <p:sp>
        <p:nvSpPr>
          <p:cNvPr id="16" name="Glass panel 19"/>
          <p:cNvSpPr/>
          <p:nvPr/>
        </p:nvSpPr>
        <p:spPr>
          <a:xfrm>
            <a:off x="4663440" y="1280160"/>
            <a:ext cx="187452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Icon circle 20"/>
          <p:cNvSpPr/>
          <p:nvPr/>
        </p:nvSpPr>
        <p:spPr>
          <a:xfrm>
            <a:off x="4846320" y="1444752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con 20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1570482"/>
            <a:ext cx="251460" cy="251460"/>
          </a:xfrm>
          <a:prstGeom prst="rect">
            <a:avLst/>
          </a:prstGeom>
        </p:spPr>
      </p:pic>
      <p:sp>
        <p:nvSpPr>
          <p:cNvPr id="19" name="Text 21"/>
          <p:cNvSpPr txBox="1"/>
          <p:nvPr/>
        </p:nvSpPr>
        <p:spPr>
          <a:xfrm>
            <a:off x="484632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Air Quality</a:t>
            </a:r>
            <a:endParaRPr lang="en-US" sz="1200" dirty="0"/>
          </a:p>
        </p:txBody>
      </p:sp>
      <p:sp>
        <p:nvSpPr>
          <p:cNvPr id="20" name="Text 22"/>
          <p:cNvSpPr txBox="1"/>
          <p:nvPr/>
        </p:nvSpPr>
        <p:spPr>
          <a:xfrm>
            <a:off x="4846320" y="2286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96</a:t>
            </a:r>
            <a:endParaRPr lang="en-US" sz="3000" dirty="0"/>
          </a:p>
        </p:txBody>
      </p:sp>
      <p:sp>
        <p:nvSpPr>
          <p:cNvPr id="21" name="Text 23"/>
          <p:cNvSpPr txBox="1"/>
          <p:nvPr/>
        </p:nvSpPr>
        <p:spPr>
          <a:xfrm>
            <a:off x="4846320" y="2743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Excellent</a:t>
            </a:r>
            <a:endParaRPr lang="en-US" sz="1200" dirty="0"/>
          </a:p>
        </p:txBody>
      </p:sp>
      <p:sp>
        <p:nvSpPr>
          <p:cNvPr id="22" name="Glass panel 24"/>
          <p:cNvSpPr/>
          <p:nvPr/>
        </p:nvSpPr>
        <p:spPr>
          <a:xfrm>
            <a:off x="6720840" y="1280160"/>
            <a:ext cx="187452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Icon circle 25"/>
          <p:cNvSpPr/>
          <p:nvPr/>
        </p:nvSpPr>
        <p:spPr>
          <a:xfrm>
            <a:off x="6903720" y="1444752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con 25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9450" y="1570482"/>
            <a:ext cx="251460" cy="251460"/>
          </a:xfrm>
          <a:prstGeom prst="rect">
            <a:avLst/>
          </a:prstGeom>
        </p:spPr>
      </p:pic>
      <p:sp>
        <p:nvSpPr>
          <p:cNvPr id="25" name="Text 26"/>
          <p:cNvSpPr txBox="1"/>
          <p:nvPr/>
        </p:nvSpPr>
        <p:spPr>
          <a:xfrm>
            <a:off x="690372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Energy Usage</a:t>
            </a:r>
            <a:endParaRPr lang="en-US" sz="1200" dirty="0"/>
          </a:p>
        </p:txBody>
      </p:sp>
      <p:sp>
        <p:nvSpPr>
          <p:cNvPr id="26" name="Text 27"/>
          <p:cNvSpPr txBox="1"/>
          <p:nvPr/>
        </p:nvSpPr>
        <p:spPr>
          <a:xfrm>
            <a:off x="6903720" y="2286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4.8 kW</a:t>
            </a:r>
            <a:endParaRPr lang="en-US" sz="3000" dirty="0"/>
          </a:p>
        </p:txBody>
      </p:sp>
      <p:sp>
        <p:nvSpPr>
          <p:cNvPr id="27" name="Text 28"/>
          <p:cNvSpPr txBox="1"/>
          <p:nvPr/>
        </p:nvSpPr>
        <p:spPr>
          <a:xfrm>
            <a:off x="6903720" y="2743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↓ 12% today</a:t>
            </a:r>
            <a:endParaRPr lang="en-US" sz="1200" dirty="0"/>
          </a:p>
        </p:txBody>
      </p:sp>
      <p:sp>
        <p:nvSpPr>
          <p:cNvPr id="28" name="Text 29"/>
          <p:cNvSpPr txBox="1"/>
          <p:nvPr/>
        </p:nvSpPr>
        <p:spPr>
          <a:xfrm>
            <a:off x="54864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2"/>
                </a:solidFill>
              </a:rPr>
              <a:t>NOTIFICATIONS</a:t>
            </a:r>
            <a:endParaRPr lang="en-US" sz="1200" dirty="0"/>
          </a:p>
        </p:txBody>
      </p:sp>
      <p:sp>
        <p:nvSpPr>
          <p:cNvPr id="29" name="Glass panel 30"/>
          <p:cNvSpPr/>
          <p:nvPr/>
        </p:nvSpPr>
        <p:spPr>
          <a:xfrm>
            <a:off x="548640" y="3566160"/>
            <a:ext cx="2560320" cy="868680"/>
          </a:xfrm>
          <a:prstGeom prst="roundRect">
            <a:avLst>
              <a:gd name="adj" fmla="val 1263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Icon circle 31"/>
          <p:cNvSpPr/>
          <p:nvPr/>
        </p:nvSpPr>
        <p:spPr>
          <a:xfrm>
            <a:off x="685800" y="37490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con 31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530" y="3874770"/>
            <a:ext cx="251460" cy="251460"/>
          </a:xfrm>
          <a:prstGeom prst="rect">
            <a:avLst/>
          </a:prstGeom>
        </p:spPr>
      </p:pic>
      <p:sp>
        <p:nvSpPr>
          <p:cNvPr id="32" name="Text 32"/>
          <p:cNvSpPr txBox="1"/>
          <p:nvPr/>
        </p:nvSpPr>
        <p:spPr>
          <a:xfrm>
            <a:off x="1325880" y="3703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Energy optimized</a:t>
            </a:r>
            <a:endParaRPr lang="en-US" sz="1400" dirty="0"/>
          </a:p>
        </p:txBody>
      </p:sp>
      <p:sp>
        <p:nvSpPr>
          <p:cNvPr id="33" name="Text 33"/>
          <p:cNvSpPr txBox="1"/>
          <p:nvPr/>
        </p:nvSpPr>
        <p:spPr>
          <a:xfrm>
            <a:off x="1325880" y="3959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Solar system reduced grid usage.</a:t>
            </a:r>
            <a:endParaRPr lang="en-US" sz="1100" dirty="0"/>
          </a:p>
        </p:txBody>
      </p:sp>
      <p:sp>
        <p:nvSpPr>
          <p:cNvPr id="34" name="Glass panel 34"/>
          <p:cNvSpPr/>
          <p:nvPr/>
        </p:nvSpPr>
        <p:spPr>
          <a:xfrm>
            <a:off x="3291840" y="3566160"/>
            <a:ext cx="2560320" cy="868680"/>
          </a:xfrm>
          <a:prstGeom prst="roundRect">
            <a:avLst>
              <a:gd name="adj" fmla="val 1263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Icon circle 35"/>
          <p:cNvSpPr/>
          <p:nvPr/>
        </p:nvSpPr>
        <p:spPr>
          <a:xfrm>
            <a:off x="3429000" y="3749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con 35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4730" y="3874770"/>
            <a:ext cx="251460" cy="251460"/>
          </a:xfrm>
          <a:prstGeom prst="rect">
            <a:avLst/>
          </a:prstGeom>
        </p:spPr>
      </p:pic>
      <p:sp>
        <p:nvSpPr>
          <p:cNvPr id="37" name="Text 36"/>
          <p:cNvSpPr txBox="1"/>
          <p:nvPr/>
        </p:nvSpPr>
        <p:spPr>
          <a:xfrm>
            <a:off x="4069080" y="3703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Security active</a:t>
            </a:r>
            <a:endParaRPr lang="en-US" sz="1400" dirty="0"/>
          </a:p>
        </p:txBody>
      </p:sp>
      <p:sp>
        <p:nvSpPr>
          <p:cNvPr id="38" name="Text 37"/>
          <p:cNvSpPr txBox="1"/>
          <p:nvPr/>
        </p:nvSpPr>
        <p:spPr>
          <a:xfrm>
            <a:off x="4069080" y="3959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All exterior doors are secured.</a:t>
            </a:r>
            <a:endParaRPr lang="en-US" sz="1100" dirty="0"/>
          </a:p>
        </p:txBody>
      </p:sp>
      <p:sp>
        <p:nvSpPr>
          <p:cNvPr id="39" name="Glass panel 38"/>
          <p:cNvSpPr/>
          <p:nvPr/>
        </p:nvSpPr>
        <p:spPr>
          <a:xfrm>
            <a:off x="6035040" y="3566160"/>
            <a:ext cx="2560320" cy="868680"/>
          </a:xfrm>
          <a:prstGeom prst="roundRect">
            <a:avLst>
              <a:gd name="adj" fmla="val 1263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Icon circle 39"/>
          <p:cNvSpPr/>
          <p:nvPr/>
        </p:nvSpPr>
        <p:spPr>
          <a:xfrm>
            <a:off x="6172200" y="374904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con 39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7930" y="3874770"/>
            <a:ext cx="251460" cy="251460"/>
          </a:xfrm>
          <a:prstGeom prst="rect">
            <a:avLst/>
          </a:prstGeom>
        </p:spPr>
      </p:pic>
      <p:sp>
        <p:nvSpPr>
          <p:cNvPr id="42" name="Text 40"/>
          <p:cNvSpPr txBox="1"/>
          <p:nvPr/>
        </p:nvSpPr>
        <p:spPr>
          <a:xfrm>
            <a:off x="6812280" y="3703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Eco mode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812280" y="3959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Your home is operating efficiently.</a:t>
            </a:r>
            <a:endParaRPr lang="en-US" sz="11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2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2"/>
                </a:solidFill>
              </a:rPr>
              <a:t>ENVIRONMENT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Smart Rooms</a:t>
            </a:r>
            <a:endParaRPr lang="en-US" sz="3600" dirty="0"/>
          </a:p>
        </p:txBody>
      </p:sp>
      <p:sp>
        <p:nvSpPr>
          <p:cNvPr id="4" name="Glass panel 43"/>
          <p:cNvSpPr/>
          <p:nvPr/>
        </p:nvSpPr>
        <p:spPr>
          <a:xfrm>
            <a:off x="548640" y="1371600"/>
            <a:ext cx="210312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Icon circle 44"/>
          <p:cNvSpPr/>
          <p:nvPr/>
        </p:nvSpPr>
        <p:spPr>
          <a:xfrm>
            <a:off x="731520" y="15361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con 44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61922"/>
            <a:ext cx="251460" cy="251460"/>
          </a:xfrm>
          <a:prstGeom prst="rect">
            <a:avLst/>
          </a:prstGeom>
        </p:spPr>
      </p:pic>
      <p:sp>
        <p:nvSpPr>
          <p:cNvPr id="7" name="Text 45"/>
          <p:cNvSpPr txBox="1"/>
          <p:nvPr/>
        </p:nvSpPr>
        <p:spPr>
          <a:xfrm>
            <a:off x="73152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Living Room</a:t>
            </a:r>
            <a:endParaRPr lang="en-US" sz="1600" dirty="0"/>
          </a:p>
        </p:txBody>
      </p:sp>
      <p:sp>
        <p:nvSpPr>
          <p:cNvPr id="8" name="Text 46"/>
          <p:cNvSpPr txBox="1"/>
          <p:nvPr/>
        </p:nvSpPr>
        <p:spPr>
          <a:xfrm>
            <a:off x="731520" y="241401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 devices online</a:t>
            </a:r>
            <a:endParaRPr lang="en-US" sz="1200" dirty="0"/>
          </a:p>
        </p:txBody>
      </p:sp>
      <p:sp>
        <p:nvSpPr>
          <p:cNvPr id="9" name="Glass panel 47"/>
          <p:cNvSpPr/>
          <p:nvPr/>
        </p:nvSpPr>
        <p:spPr>
          <a:xfrm>
            <a:off x="2834640" y="1371600"/>
            <a:ext cx="210312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Icon circle 48"/>
          <p:cNvSpPr/>
          <p:nvPr/>
        </p:nvSpPr>
        <p:spPr>
          <a:xfrm>
            <a:off x="3017520" y="15361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con 48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250" y="1661922"/>
            <a:ext cx="251460" cy="251460"/>
          </a:xfrm>
          <a:prstGeom prst="rect">
            <a:avLst/>
          </a:prstGeom>
        </p:spPr>
      </p:pic>
      <p:sp>
        <p:nvSpPr>
          <p:cNvPr id="12" name="Text 49"/>
          <p:cNvSpPr txBox="1"/>
          <p:nvPr/>
        </p:nvSpPr>
        <p:spPr>
          <a:xfrm>
            <a:off x="301752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Master Bedroom</a:t>
            </a:r>
            <a:endParaRPr lang="en-US" sz="1600" dirty="0"/>
          </a:p>
        </p:txBody>
      </p:sp>
      <p:sp>
        <p:nvSpPr>
          <p:cNvPr id="13" name="Text 50"/>
          <p:cNvSpPr txBox="1"/>
          <p:nvPr/>
        </p:nvSpPr>
        <p:spPr>
          <a:xfrm>
            <a:off x="3017520" y="241401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 devices online</a:t>
            </a:r>
            <a:endParaRPr lang="en-US" sz="1200" dirty="0"/>
          </a:p>
        </p:txBody>
      </p:sp>
      <p:sp>
        <p:nvSpPr>
          <p:cNvPr id="14" name="Glass panel 51"/>
          <p:cNvSpPr/>
          <p:nvPr/>
        </p:nvSpPr>
        <p:spPr>
          <a:xfrm>
            <a:off x="548640" y="2880360"/>
            <a:ext cx="210312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Icon circle 52"/>
          <p:cNvSpPr/>
          <p:nvPr/>
        </p:nvSpPr>
        <p:spPr>
          <a:xfrm>
            <a:off x="731520" y="3044952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con 52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170682"/>
            <a:ext cx="251460" cy="251460"/>
          </a:xfrm>
          <a:prstGeom prst="rect">
            <a:avLst/>
          </a:prstGeom>
        </p:spPr>
      </p:pic>
      <p:sp>
        <p:nvSpPr>
          <p:cNvPr id="17" name="Text 53"/>
          <p:cNvSpPr txBox="1"/>
          <p:nvPr/>
        </p:nvSpPr>
        <p:spPr>
          <a:xfrm>
            <a:off x="73152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Kitchen</a:t>
            </a:r>
            <a:endParaRPr lang="en-US" sz="1600" dirty="0"/>
          </a:p>
        </p:txBody>
      </p:sp>
      <p:sp>
        <p:nvSpPr>
          <p:cNvPr id="18" name="Text 54"/>
          <p:cNvSpPr txBox="1"/>
          <p:nvPr/>
        </p:nvSpPr>
        <p:spPr>
          <a:xfrm>
            <a:off x="731520" y="39227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5 devices online</a:t>
            </a:r>
            <a:endParaRPr lang="en-US" sz="1200" dirty="0"/>
          </a:p>
        </p:txBody>
      </p:sp>
      <p:sp>
        <p:nvSpPr>
          <p:cNvPr id="19" name="Glass panel 55"/>
          <p:cNvSpPr/>
          <p:nvPr/>
        </p:nvSpPr>
        <p:spPr>
          <a:xfrm>
            <a:off x="2834640" y="2880360"/>
            <a:ext cx="210312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Icon circle 56"/>
          <p:cNvSpPr/>
          <p:nvPr/>
        </p:nvSpPr>
        <p:spPr>
          <a:xfrm>
            <a:off x="3017520" y="3044952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con 56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3250" y="3170682"/>
            <a:ext cx="251460" cy="251460"/>
          </a:xfrm>
          <a:prstGeom prst="rect">
            <a:avLst/>
          </a:prstGeom>
        </p:spPr>
      </p:pic>
      <p:sp>
        <p:nvSpPr>
          <p:cNvPr id="22" name="Text 57"/>
          <p:cNvSpPr txBox="1"/>
          <p:nvPr/>
        </p:nvSpPr>
        <p:spPr>
          <a:xfrm>
            <a:off x="301752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Smart Office</a:t>
            </a:r>
            <a:endParaRPr lang="en-US" sz="1600" dirty="0"/>
          </a:p>
        </p:txBody>
      </p:sp>
      <p:sp>
        <p:nvSpPr>
          <p:cNvPr id="23" name="Text 58"/>
          <p:cNvSpPr txBox="1"/>
          <p:nvPr/>
        </p:nvSpPr>
        <p:spPr>
          <a:xfrm>
            <a:off x="3017520" y="39227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6 devices online</a:t>
            </a:r>
            <a:endParaRPr lang="en-US" sz="1200" dirty="0"/>
          </a:p>
        </p:txBody>
      </p:sp>
      <p:sp>
        <p:nvSpPr>
          <p:cNvPr id="24" name="Glass panel 59"/>
          <p:cNvSpPr/>
          <p:nvPr/>
        </p:nvSpPr>
        <p:spPr>
          <a:xfrm>
            <a:off x="5212080" y="1371600"/>
            <a:ext cx="3383280" cy="2834640"/>
          </a:xfrm>
          <a:prstGeom prst="roundRect">
            <a:avLst>
              <a:gd name="adj" fmla="val 38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5" name="Chart 0"/>
          <p:cNvGraphicFramePr/>
          <p:nvPr/>
        </p:nvGraphicFramePr>
        <p:xfrm>
          <a:off x="5303520" y="1417320"/>
          <a:ext cx="3200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5"/>
                </a:solidFill>
              </a:rPr>
              <a:t>DEVICE NETWORK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Connected Devices</a:t>
            </a:r>
            <a:endParaRPr lang="en-US" sz="3600" dirty="0"/>
          </a:p>
        </p:txBody>
      </p:sp>
      <p:sp>
        <p:nvSpPr>
          <p:cNvPr id="4" name="Glass panel 61"/>
          <p:cNvSpPr/>
          <p:nvPr/>
        </p:nvSpPr>
        <p:spPr>
          <a:xfrm>
            <a:off x="548640" y="128016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Icon circle 62"/>
          <p:cNvSpPr/>
          <p:nvPr/>
        </p:nvSpPr>
        <p:spPr>
          <a:xfrm>
            <a:off x="713232" y="1417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con 62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1531620"/>
            <a:ext cx="228600" cy="228600"/>
          </a:xfrm>
          <a:prstGeom prst="rect">
            <a:avLst/>
          </a:prstGeom>
        </p:spPr>
      </p:pic>
      <p:sp>
        <p:nvSpPr>
          <p:cNvPr id="7" name="Text 63"/>
          <p:cNvSpPr txBox="1"/>
          <p:nvPr/>
        </p:nvSpPr>
        <p:spPr>
          <a:xfrm>
            <a:off x="713232" y="1965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Smart Lights</a:t>
            </a:r>
            <a:endParaRPr lang="en-US" sz="1500" dirty="0"/>
          </a:p>
        </p:txBody>
      </p:sp>
      <p:sp>
        <p:nvSpPr>
          <p:cNvPr id="8" name="Text 64"/>
          <p:cNvSpPr txBox="1"/>
          <p:nvPr/>
        </p:nvSpPr>
        <p:spPr>
          <a:xfrm>
            <a:off x="713232" y="2221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Living Room</a:t>
            </a:r>
            <a:endParaRPr lang="en-US" sz="1100" dirty="0"/>
          </a:p>
        </p:txBody>
      </p:sp>
      <p:sp>
        <p:nvSpPr>
          <p:cNvPr id="9" name="Text 65"/>
          <p:cNvSpPr txBox="1"/>
          <p:nvPr/>
        </p:nvSpPr>
        <p:spPr>
          <a:xfrm>
            <a:off x="713232" y="24505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80% Brightness</a:t>
            </a:r>
            <a:endParaRPr lang="en-US" sz="1200" dirty="0"/>
          </a:p>
        </p:txBody>
      </p:sp>
      <p:sp>
        <p:nvSpPr>
          <p:cNvPr id="10" name="Glass panel 66"/>
          <p:cNvSpPr/>
          <p:nvPr/>
        </p:nvSpPr>
        <p:spPr>
          <a:xfrm>
            <a:off x="2606040" y="128016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Icon circle 67"/>
          <p:cNvSpPr/>
          <p:nvPr/>
        </p:nvSpPr>
        <p:spPr>
          <a:xfrm>
            <a:off x="2770632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con 67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4932" y="1531620"/>
            <a:ext cx="228600" cy="228600"/>
          </a:xfrm>
          <a:prstGeom prst="rect">
            <a:avLst/>
          </a:prstGeom>
        </p:spPr>
      </p:pic>
      <p:sp>
        <p:nvSpPr>
          <p:cNvPr id="13" name="Text 68"/>
          <p:cNvSpPr txBox="1"/>
          <p:nvPr/>
        </p:nvSpPr>
        <p:spPr>
          <a:xfrm>
            <a:off x="2770632" y="1965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Smart AC</a:t>
            </a:r>
            <a:endParaRPr lang="en-US" sz="1500" dirty="0"/>
          </a:p>
        </p:txBody>
      </p:sp>
      <p:sp>
        <p:nvSpPr>
          <p:cNvPr id="14" name="Text 69"/>
          <p:cNvSpPr txBox="1"/>
          <p:nvPr/>
        </p:nvSpPr>
        <p:spPr>
          <a:xfrm>
            <a:off x="2770632" y="2221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Living Room</a:t>
            </a:r>
            <a:endParaRPr lang="en-US" sz="1100" dirty="0"/>
          </a:p>
        </p:txBody>
      </p:sp>
      <p:sp>
        <p:nvSpPr>
          <p:cNvPr id="15" name="Text 70"/>
          <p:cNvSpPr txBox="1"/>
          <p:nvPr/>
        </p:nvSpPr>
        <p:spPr>
          <a:xfrm>
            <a:off x="2770632" y="24505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23°C</a:t>
            </a:r>
            <a:endParaRPr lang="en-US" sz="1200" dirty="0"/>
          </a:p>
        </p:txBody>
      </p:sp>
      <p:sp>
        <p:nvSpPr>
          <p:cNvPr id="16" name="Glass panel 71"/>
          <p:cNvSpPr/>
          <p:nvPr/>
        </p:nvSpPr>
        <p:spPr>
          <a:xfrm>
            <a:off x="4663440" y="128016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Icon circle 72"/>
          <p:cNvSpPr/>
          <p:nvPr/>
        </p:nvSpPr>
        <p:spPr>
          <a:xfrm>
            <a:off x="4828032" y="14173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con 72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2332" y="1531620"/>
            <a:ext cx="228600" cy="228600"/>
          </a:xfrm>
          <a:prstGeom prst="rect">
            <a:avLst/>
          </a:prstGeom>
        </p:spPr>
      </p:pic>
      <p:sp>
        <p:nvSpPr>
          <p:cNvPr id="19" name="Text 73"/>
          <p:cNvSpPr txBox="1"/>
          <p:nvPr/>
        </p:nvSpPr>
        <p:spPr>
          <a:xfrm>
            <a:off x="4828032" y="1965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Smart TV</a:t>
            </a:r>
            <a:endParaRPr lang="en-US" sz="1500" dirty="0"/>
          </a:p>
        </p:txBody>
      </p:sp>
      <p:sp>
        <p:nvSpPr>
          <p:cNvPr id="20" name="Text 74"/>
          <p:cNvSpPr txBox="1"/>
          <p:nvPr/>
        </p:nvSpPr>
        <p:spPr>
          <a:xfrm>
            <a:off x="4828032" y="2221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Living Room</a:t>
            </a:r>
            <a:endParaRPr lang="en-US" sz="1100" dirty="0"/>
          </a:p>
        </p:txBody>
      </p:sp>
      <p:sp>
        <p:nvSpPr>
          <p:cNvPr id="21" name="Text 75"/>
          <p:cNvSpPr txBox="1"/>
          <p:nvPr/>
        </p:nvSpPr>
        <p:spPr>
          <a:xfrm>
            <a:off x="4828032" y="24505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Netflix</a:t>
            </a:r>
            <a:endParaRPr lang="en-US" sz="1200" dirty="0"/>
          </a:p>
        </p:txBody>
      </p:sp>
      <p:sp>
        <p:nvSpPr>
          <p:cNvPr id="22" name="Glass panel 76"/>
          <p:cNvSpPr/>
          <p:nvPr/>
        </p:nvSpPr>
        <p:spPr>
          <a:xfrm>
            <a:off x="6720840" y="128016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Icon circle 77"/>
          <p:cNvSpPr/>
          <p:nvPr/>
        </p:nvSpPr>
        <p:spPr>
          <a:xfrm>
            <a:off x="6885432" y="141732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con 77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9732" y="1531620"/>
            <a:ext cx="228600" cy="228600"/>
          </a:xfrm>
          <a:prstGeom prst="rect">
            <a:avLst/>
          </a:prstGeom>
        </p:spPr>
      </p:pic>
      <p:sp>
        <p:nvSpPr>
          <p:cNvPr id="25" name="Text 78"/>
          <p:cNvSpPr txBox="1"/>
          <p:nvPr/>
        </p:nvSpPr>
        <p:spPr>
          <a:xfrm>
            <a:off x="6885432" y="1965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Speaker</a:t>
            </a:r>
            <a:endParaRPr lang="en-US" sz="1500" dirty="0"/>
          </a:p>
        </p:txBody>
      </p:sp>
      <p:sp>
        <p:nvSpPr>
          <p:cNvPr id="26" name="Text 79"/>
          <p:cNvSpPr txBox="1"/>
          <p:nvPr/>
        </p:nvSpPr>
        <p:spPr>
          <a:xfrm>
            <a:off x="6885432" y="2221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Bedroom</a:t>
            </a:r>
            <a:endParaRPr lang="en-US" sz="1100" dirty="0"/>
          </a:p>
        </p:txBody>
      </p:sp>
      <p:sp>
        <p:nvSpPr>
          <p:cNvPr id="27" name="Text 80"/>
          <p:cNvSpPr txBox="1"/>
          <p:nvPr/>
        </p:nvSpPr>
        <p:spPr>
          <a:xfrm>
            <a:off x="6885432" y="24505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Listening</a:t>
            </a:r>
            <a:endParaRPr lang="en-US" sz="1200" dirty="0"/>
          </a:p>
        </p:txBody>
      </p:sp>
      <p:sp>
        <p:nvSpPr>
          <p:cNvPr id="28" name="Text 81"/>
          <p:cNvSpPr txBox="1"/>
          <p:nvPr/>
        </p:nvSpPr>
        <p:spPr>
          <a:xfrm>
            <a:off x="54864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2"/>
                </a:solidFill>
              </a:rPr>
              <a:t>ADD A DEVICE</a:t>
            </a:r>
            <a:endParaRPr lang="en-US" sz="1200" dirty="0"/>
          </a:p>
        </p:txBody>
      </p:sp>
      <p:sp>
        <p:nvSpPr>
          <p:cNvPr id="29" name="Flow step 1"/>
          <p:cNvSpPr txBox="1"/>
          <p:nvPr/>
        </p:nvSpPr>
        <p:spPr>
          <a:xfrm>
            <a:off x="548640" y="3291840"/>
            <a:ext cx="1645920" cy="822960"/>
          </a:xfrm>
          <a:prstGeom prst="roundRect">
            <a:avLst>
              <a:gd name="adj" fmla="val 13333"/>
            </a:avLst>
          </a:prstGeom>
          <a:solidFill>
            <a:schemeClr val="accent3">
              <a:alpha val="20000"/>
            </a:schemeClr>
          </a:solidFill>
          <a:ln w="1905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STEP 1</a:t>
            </a:r>
            <a:endParaRPr lang="en-US" sz="10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Choose device type</a:t>
            </a:r>
            <a:endParaRPr lang="en-US" sz="1000" dirty="0"/>
          </a:p>
        </p:txBody>
      </p:sp>
      <p:sp>
        <p:nvSpPr>
          <p:cNvPr id="30" name="Arrow 82"/>
          <p:cNvSpPr/>
          <p:nvPr/>
        </p:nvSpPr>
        <p:spPr>
          <a:xfrm>
            <a:off x="2231136" y="3703320"/>
            <a:ext cx="429768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Flow step 2"/>
          <p:cNvSpPr txBox="1"/>
          <p:nvPr/>
        </p:nvSpPr>
        <p:spPr>
          <a:xfrm>
            <a:off x="2697480" y="3291840"/>
            <a:ext cx="1645920" cy="822960"/>
          </a:xfrm>
          <a:prstGeom prst="roundRect">
            <a:avLst>
              <a:gd name="adj" fmla="val 13333"/>
            </a:avLst>
          </a:prstGeom>
          <a:solidFill>
            <a:schemeClr val="accent1">
              <a:alpha val="20000"/>
            </a:schemeClr>
          </a:solidFill>
          <a:ln w="19050">
            <a:solidFill>
              <a:schemeClr val="accent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STEP 2</a:t>
            </a:r>
            <a:endParaRPr lang="en-US" sz="10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Pick a room</a:t>
            </a:r>
            <a:endParaRPr lang="en-US" sz="1000" dirty="0"/>
          </a:p>
        </p:txBody>
      </p:sp>
      <p:sp>
        <p:nvSpPr>
          <p:cNvPr id="32" name="Arrow 83"/>
          <p:cNvSpPr/>
          <p:nvPr/>
        </p:nvSpPr>
        <p:spPr>
          <a:xfrm>
            <a:off x="4379976" y="3703320"/>
            <a:ext cx="429768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Flow step 3"/>
          <p:cNvSpPr txBox="1"/>
          <p:nvPr/>
        </p:nvSpPr>
        <p:spPr>
          <a:xfrm>
            <a:off x="4846320" y="3291840"/>
            <a:ext cx="1645920" cy="822960"/>
          </a:xfrm>
          <a:prstGeom prst="roundRect">
            <a:avLst>
              <a:gd name="adj" fmla="val 13333"/>
            </a:avLst>
          </a:prstGeom>
          <a:solidFill>
            <a:schemeClr val="accent2">
              <a:alpha val="20000"/>
            </a:schemeClr>
          </a:solidFill>
          <a:ln w="19050">
            <a:solidFill>
              <a:schemeClr val="accent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3</a:t>
            </a:r>
            <a:endParaRPr lang="en-US" sz="10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Connect device</a:t>
            </a:r>
            <a:endParaRPr lang="en-US" sz="1000" dirty="0"/>
          </a:p>
        </p:txBody>
      </p:sp>
      <p:sp>
        <p:nvSpPr>
          <p:cNvPr id="34" name="Arrow 84"/>
          <p:cNvSpPr/>
          <p:nvPr/>
        </p:nvSpPr>
        <p:spPr>
          <a:xfrm>
            <a:off x="6528816" y="3703320"/>
            <a:ext cx="42976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Flow step 4"/>
          <p:cNvSpPr txBox="1"/>
          <p:nvPr/>
        </p:nvSpPr>
        <p:spPr>
          <a:xfrm>
            <a:off x="6995160" y="3291840"/>
            <a:ext cx="1645920" cy="822960"/>
          </a:xfrm>
          <a:prstGeom prst="roundRect">
            <a:avLst>
              <a:gd name="adj" fmla="val 13333"/>
            </a:avLst>
          </a:prstGeom>
          <a:solidFill>
            <a:schemeClr val="accent5">
              <a:alpha val="20000"/>
            </a:schemeClr>
          </a:solidFill>
          <a:ln w="19050">
            <a:solidFill>
              <a:schemeClr val="accent5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STEP 4</a:t>
            </a:r>
            <a:endParaRPr lang="en-US" sz="10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Live on network</a:t>
            </a:r>
            <a:endParaRPr lang="en-US" sz="1000" dirty="0"/>
          </a:p>
        </p:txBody>
      </p:sp>
      <p:sp>
        <p:nvSpPr>
          <p:cNvPr id="36" name="Text 85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Supports Smart Light, AC, TV, Speaker, Lock and Security Camera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6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POWER INTELLIGENCE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Energy Monitoring</a:t>
            </a:r>
            <a:endParaRPr lang="en-US" sz="3600" dirty="0"/>
          </a:p>
        </p:txBody>
      </p:sp>
      <p:sp>
        <p:nvSpPr>
          <p:cNvPr id="4" name="Glass panel 87"/>
          <p:cNvSpPr/>
          <p:nvPr/>
        </p:nvSpPr>
        <p:spPr>
          <a:xfrm>
            <a:off x="548640" y="1280160"/>
            <a:ext cx="2194560" cy="1417320"/>
          </a:xfrm>
          <a:prstGeom prst="roundRect">
            <a:avLst>
              <a:gd name="adj" fmla="val 774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Icon circle 88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con 88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1531620"/>
            <a:ext cx="228600" cy="228600"/>
          </a:xfrm>
          <a:prstGeom prst="rect">
            <a:avLst/>
          </a:prstGeom>
        </p:spPr>
      </p:pic>
      <p:sp>
        <p:nvSpPr>
          <p:cNvPr id="7" name="Text 89"/>
          <p:cNvSpPr txBox="1"/>
          <p:nvPr/>
        </p:nvSpPr>
        <p:spPr>
          <a:xfrm>
            <a:off x="7315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3.2 kW</a:t>
            </a:r>
            <a:endParaRPr lang="en-US" sz="2800" dirty="0"/>
          </a:p>
        </p:txBody>
      </p:sp>
      <p:sp>
        <p:nvSpPr>
          <p:cNvPr id="8" name="Text 90"/>
          <p:cNvSpPr txBox="1"/>
          <p:nvPr/>
        </p:nvSpPr>
        <p:spPr>
          <a:xfrm>
            <a:off x="73152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Solar Power</a:t>
            </a:r>
            <a:endParaRPr lang="en-US" sz="1200" dirty="0"/>
          </a:p>
        </p:txBody>
      </p:sp>
      <p:sp>
        <p:nvSpPr>
          <p:cNvPr id="9" name="Arrow 91"/>
          <p:cNvSpPr/>
          <p:nvPr/>
        </p:nvSpPr>
        <p:spPr>
          <a:xfrm>
            <a:off x="2834640" y="1988820"/>
            <a:ext cx="54864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Glass panel 92"/>
          <p:cNvSpPr/>
          <p:nvPr/>
        </p:nvSpPr>
        <p:spPr>
          <a:xfrm>
            <a:off x="3474720" y="1280160"/>
            <a:ext cx="2194560" cy="1417320"/>
          </a:xfrm>
          <a:prstGeom prst="roundRect">
            <a:avLst>
              <a:gd name="adj" fmla="val 774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Icon circle 93"/>
          <p:cNvSpPr/>
          <p:nvPr/>
        </p:nvSpPr>
        <p:spPr>
          <a:xfrm>
            <a:off x="3657600" y="141732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con 93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1531620"/>
            <a:ext cx="228600" cy="228600"/>
          </a:xfrm>
          <a:prstGeom prst="rect">
            <a:avLst/>
          </a:prstGeom>
        </p:spPr>
      </p:pic>
      <p:sp>
        <p:nvSpPr>
          <p:cNvPr id="13" name="Text 94"/>
          <p:cNvSpPr txBox="1"/>
          <p:nvPr/>
        </p:nvSpPr>
        <p:spPr>
          <a:xfrm>
            <a:off x="365760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86%</a:t>
            </a:r>
            <a:endParaRPr lang="en-US" sz="2800" dirty="0"/>
          </a:p>
        </p:txBody>
      </p:sp>
      <p:sp>
        <p:nvSpPr>
          <p:cNvPr id="14" name="Text 95"/>
          <p:cNvSpPr txBox="1"/>
          <p:nvPr/>
        </p:nvSpPr>
        <p:spPr>
          <a:xfrm>
            <a:off x="365760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Battery</a:t>
            </a:r>
            <a:endParaRPr lang="en-US" sz="1200" dirty="0"/>
          </a:p>
        </p:txBody>
      </p:sp>
      <p:sp>
        <p:nvSpPr>
          <p:cNvPr id="15" name="Arrow 96"/>
          <p:cNvSpPr/>
          <p:nvPr/>
        </p:nvSpPr>
        <p:spPr>
          <a:xfrm>
            <a:off x="5760720" y="1988820"/>
            <a:ext cx="54864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Glass panel 97"/>
          <p:cNvSpPr/>
          <p:nvPr/>
        </p:nvSpPr>
        <p:spPr>
          <a:xfrm>
            <a:off x="6400800" y="1280160"/>
            <a:ext cx="2194560" cy="1417320"/>
          </a:xfrm>
          <a:prstGeom prst="roundRect">
            <a:avLst>
              <a:gd name="adj" fmla="val 774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Icon circle 98"/>
          <p:cNvSpPr/>
          <p:nvPr/>
        </p:nvSpPr>
        <p:spPr>
          <a:xfrm>
            <a:off x="658368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con 98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1531620"/>
            <a:ext cx="228600" cy="228600"/>
          </a:xfrm>
          <a:prstGeom prst="rect">
            <a:avLst/>
          </a:prstGeom>
        </p:spPr>
      </p:pic>
      <p:sp>
        <p:nvSpPr>
          <p:cNvPr id="19" name="Text 99"/>
          <p:cNvSpPr txBox="1"/>
          <p:nvPr/>
        </p:nvSpPr>
        <p:spPr>
          <a:xfrm>
            <a:off x="658368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4.8 kW</a:t>
            </a:r>
            <a:endParaRPr lang="en-US" sz="2800" dirty="0"/>
          </a:p>
        </p:txBody>
      </p:sp>
      <p:sp>
        <p:nvSpPr>
          <p:cNvPr id="20" name="Text 100"/>
          <p:cNvSpPr txBox="1"/>
          <p:nvPr/>
        </p:nvSpPr>
        <p:spPr>
          <a:xfrm>
            <a:off x="658368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Current Usage</a:t>
            </a:r>
            <a:endParaRPr lang="en-US" sz="1200" dirty="0"/>
          </a:p>
        </p:txBody>
      </p:sp>
      <p:sp>
        <p:nvSpPr>
          <p:cNvPr id="21" name="Glass panel 101"/>
          <p:cNvSpPr/>
          <p:nvPr/>
        </p:nvSpPr>
        <p:spPr>
          <a:xfrm>
            <a:off x="54864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2" name="Chart 0"/>
          <p:cNvGraphicFramePr/>
          <p:nvPr/>
        </p:nvGraphicFramePr>
        <p:xfrm>
          <a:off x="640080" y="2971800"/>
          <a:ext cx="13716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Text 102"/>
          <p:cNvSpPr txBox="1"/>
          <p:nvPr/>
        </p:nvSpPr>
        <p:spPr>
          <a:xfrm>
            <a:off x="219456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72%</a:t>
            </a:r>
            <a:endParaRPr lang="en-US" sz="4000" dirty="0"/>
          </a:p>
        </p:txBody>
      </p:sp>
      <p:sp>
        <p:nvSpPr>
          <p:cNvPr id="24" name="Text 103"/>
          <p:cNvSpPr txBox="1"/>
          <p:nvPr/>
        </p:nvSpPr>
        <p:spPr>
          <a:xfrm>
            <a:off x="219456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Efficiency</a:t>
            </a:r>
            <a:endParaRPr lang="en-US" sz="1400" dirty="0"/>
          </a:p>
        </p:txBody>
      </p:sp>
      <p:sp>
        <p:nvSpPr>
          <p:cNvPr id="25" name="Glass panel 104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05"/>
          <p:cNvSpPr txBox="1"/>
          <p:nvPr/>
        </p:nvSpPr>
        <p:spPr>
          <a:xfrm>
            <a:off x="489204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● LIVE</a:t>
            </a:r>
            <a:endParaRPr lang="en-US" sz="1200" dirty="0"/>
          </a:p>
        </p:txBody>
      </p:sp>
      <p:sp>
        <p:nvSpPr>
          <p:cNvPr id="27" name="Text 106"/>
          <p:cNvSpPr txBox="1"/>
          <p:nvPr/>
        </p:nvSpPr>
        <p:spPr>
          <a:xfrm>
            <a:off x="4892040" y="3383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↓ 12%</a:t>
            </a:r>
            <a:endParaRPr lang="en-US" sz="4000" dirty="0"/>
          </a:p>
        </p:txBody>
      </p:sp>
      <p:sp>
        <p:nvSpPr>
          <p:cNvPr id="28" name="Text 107"/>
          <p:cNvSpPr txBox="1"/>
          <p:nvPr/>
        </p:nvSpPr>
        <p:spPr>
          <a:xfrm>
            <a:off x="489204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energy usage today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8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2"/>
                </a:solidFill>
              </a:rPr>
              <a:t>AUTOMATION ENGINE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Smart Routines</a:t>
            </a:r>
            <a:endParaRPr lang="en-US" sz="3600" dirty="0"/>
          </a:p>
        </p:txBody>
      </p:sp>
      <p:sp>
        <p:nvSpPr>
          <p:cNvPr id="4" name="Trigger 1"/>
          <p:cNvSpPr/>
          <p:nvPr/>
        </p:nvSpPr>
        <p:spPr>
          <a:xfrm>
            <a:off x="548640" y="1325880"/>
            <a:ext cx="173736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rigger icon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581912"/>
            <a:ext cx="411480" cy="411480"/>
          </a:xfrm>
          <a:prstGeom prst="rect">
            <a:avLst/>
          </a:prstGeom>
        </p:spPr>
      </p:pic>
      <p:sp>
        <p:nvSpPr>
          <p:cNvPr id="6" name="Text 109"/>
          <p:cNvSpPr txBox="1"/>
          <p:nvPr/>
        </p:nvSpPr>
        <p:spPr>
          <a:xfrm>
            <a:off x="1143000" y="1325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Good Morning</a:t>
            </a:r>
            <a:endParaRPr lang="en-US" sz="1400" dirty="0"/>
          </a:p>
        </p:txBody>
      </p:sp>
      <p:sp>
        <p:nvSpPr>
          <p:cNvPr id="7" name="Arrow 110"/>
          <p:cNvSpPr/>
          <p:nvPr/>
        </p:nvSpPr>
        <p:spPr>
          <a:xfrm>
            <a:off x="2304288" y="1783080"/>
            <a:ext cx="256032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Action 1.1"/>
          <p:cNvSpPr txBox="1"/>
          <p:nvPr/>
        </p:nvSpPr>
        <p:spPr>
          <a:xfrm>
            <a:off x="2560320" y="132588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12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Lights ON</a:t>
            </a:r>
            <a:endParaRPr lang="en-US" sz="1400" dirty="0"/>
          </a:p>
        </p:txBody>
      </p:sp>
      <p:sp>
        <p:nvSpPr>
          <p:cNvPr id="9" name="Arrow 111"/>
          <p:cNvSpPr/>
          <p:nvPr/>
        </p:nvSpPr>
        <p:spPr>
          <a:xfrm>
            <a:off x="4407408" y="1783080"/>
            <a:ext cx="237744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Action 1.2"/>
          <p:cNvSpPr txBox="1"/>
          <p:nvPr/>
        </p:nvSpPr>
        <p:spPr>
          <a:xfrm>
            <a:off x="4617720" y="132588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12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Curtains OPEN</a:t>
            </a:r>
            <a:endParaRPr lang="en-US" sz="1400" dirty="0"/>
          </a:p>
        </p:txBody>
      </p:sp>
      <p:sp>
        <p:nvSpPr>
          <p:cNvPr id="11" name="Arrow 112"/>
          <p:cNvSpPr/>
          <p:nvPr/>
        </p:nvSpPr>
        <p:spPr>
          <a:xfrm>
            <a:off x="6464808" y="1783080"/>
            <a:ext cx="237744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Action 1.3"/>
          <p:cNvSpPr txBox="1"/>
          <p:nvPr/>
        </p:nvSpPr>
        <p:spPr>
          <a:xfrm>
            <a:off x="6675120" y="132588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12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Coffee Machine ON</a:t>
            </a:r>
            <a:endParaRPr lang="en-US" sz="1400" dirty="0"/>
          </a:p>
        </p:txBody>
      </p:sp>
      <p:sp>
        <p:nvSpPr>
          <p:cNvPr id="13" name="Trigger 2"/>
          <p:cNvSpPr/>
          <p:nvPr/>
        </p:nvSpPr>
        <p:spPr>
          <a:xfrm>
            <a:off x="548640" y="2423160"/>
            <a:ext cx="1737360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Trigger icon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679192"/>
            <a:ext cx="411480" cy="411480"/>
          </a:xfrm>
          <a:prstGeom prst="rect">
            <a:avLst/>
          </a:prstGeom>
        </p:spPr>
      </p:pic>
      <p:sp>
        <p:nvSpPr>
          <p:cNvPr id="15" name="Text 113"/>
          <p:cNvSpPr txBox="1"/>
          <p:nvPr/>
        </p:nvSpPr>
        <p:spPr>
          <a:xfrm>
            <a:off x="1143000" y="2423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Good Night</a:t>
            </a:r>
            <a:endParaRPr lang="en-US" sz="1400" dirty="0"/>
          </a:p>
        </p:txBody>
      </p:sp>
      <p:sp>
        <p:nvSpPr>
          <p:cNvPr id="16" name="Arrow 114"/>
          <p:cNvSpPr/>
          <p:nvPr/>
        </p:nvSpPr>
        <p:spPr>
          <a:xfrm>
            <a:off x="2304288" y="2880360"/>
            <a:ext cx="256032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Action 2.1"/>
          <p:cNvSpPr txBox="1"/>
          <p:nvPr/>
        </p:nvSpPr>
        <p:spPr>
          <a:xfrm>
            <a:off x="2560320" y="242316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12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Lights OFF</a:t>
            </a:r>
            <a:endParaRPr lang="en-US" sz="1400" dirty="0"/>
          </a:p>
        </p:txBody>
      </p:sp>
      <p:sp>
        <p:nvSpPr>
          <p:cNvPr id="18" name="Arrow 115"/>
          <p:cNvSpPr/>
          <p:nvPr/>
        </p:nvSpPr>
        <p:spPr>
          <a:xfrm>
            <a:off x="4407408" y="2880360"/>
            <a:ext cx="237744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Action 2.2"/>
          <p:cNvSpPr txBox="1"/>
          <p:nvPr/>
        </p:nvSpPr>
        <p:spPr>
          <a:xfrm>
            <a:off x="4617720" y="242316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12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Doors LOCKED</a:t>
            </a:r>
            <a:endParaRPr lang="en-US" sz="1400" dirty="0"/>
          </a:p>
        </p:txBody>
      </p:sp>
      <p:sp>
        <p:nvSpPr>
          <p:cNvPr id="20" name="Arrow 116"/>
          <p:cNvSpPr/>
          <p:nvPr/>
        </p:nvSpPr>
        <p:spPr>
          <a:xfrm>
            <a:off x="6464808" y="2880360"/>
            <a:ext cx="237744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Action 2.3"/>
          <p:cNvSpPr txBox="1"/>
          <p:nvPr/>
        </p:nvSpPr>
        <p:spPr>
          <a:xfrm>
            <a:off x="6675120" y="242316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12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Security ON</a:t>
            </a:r>
            <a:endParaRPr lang="en-US" sz="1400" dirty="0"/>
          </a:p>
        </p:txBody>
      </p:sp>
      <p:sp>
        <p:nvSpPr>
          <p:cNvPr id="22" name="Trigger 3"/>
          <p:cNvSpPr/>
          <p:nvPr/>
        </p:nvSpPr>
        <p:spPr>
          <a:xfrm>
            <a:off x="548640" y="3520440"/>
            <a:ext cx="173736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Trigger icon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776472"/>
            <a:ext cx="411480" cy="411480"/>
          </a:xfrm>
          <a:prstGeom prst="rect">
            <a:avLst/>
          </a:prstGeom>
        </p:spPr>
      </p:pic>
      <p:sp>
        <p:nvSpPr>
          <p:cNvPr id="24" name="Text 117"/>
          <p:cNvSpPr txBox="1"/>
          <p:nvPr/>
        </p:nvSpPr>
        <p:spPr>
          <a:xfrm>
            <a:off x="1143000" y="35204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Movie Mode</a:t>
            </a:r>
            <a:endParaRPr lang="en-US" sz="1400" dirty="0"/>
          </a:p>
        </p:txBody>
      </p:sp>
      <p:sp>
        <p:nvSpPr>
          <p:cNvPr id="25" name="Arrow 118"/>
          <p:cNvSpPr/>
          <p:nvPr/>
        </p:nvSpPr>
        <p:spPr>
          <a:xfrm>
            <a:off x="2304288" y="3977640"/>
            <a:ext cx="256032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Action 3.1"/>
          <p:cNvSpPr txBox="1"/>
          <p:nvPr/>
        </p:nvSpPr>
        <p:spPr>
          <a:xfrm>
            <a:off x="2560320" y="352044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12000"/>
            </a:schemeClr>
          </a:solidFill>
          <a:ln w="1905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Lights 20%</a:t>
            </a:r>
            <a:endParaRPr lang="en-US" sz="1400" dirty="0"/>
          </a:p>
        </p:txBody>
      </p:sp>
      <p:sp>
        <p:nvSpPr>
          <p:cNvPr id="27" name="Arrow 119"/>
          <p:cNvSpPr/>
          <p:nvPr/>
        </p:nvSpPr>
        <p:spPr>
          <a:xfrm>
            <a:off x="4407408" y="3977640"/>
            <a:ext cx="237744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Action 3.2"/>
          <p:cNvSpPr txBox="1"/>
          <p:nvPr/>
        </p:nvSpPr>
        <p:spPr>
          <a:xfrm>
            <a:off x="4617720" y="352044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12000"/>
            </a:schemeClr>
          </a:solidFill>
          <a:ln w="1905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TV ON</a:t>
            </a:r>
            <a:endParaRPr lang="en-US" sz="1400" dirty="0"/>
          </a:p>
        </p:txBody>
      </p:sp>
      <p:sp>
        <p:nvSpPr>
          <p:cNvPr id="29" name="Arrow 120"/>
          <p:cNvSpPr/>
          <p:nvPr/>
        </p:nvSpPr>
        <p:spPr>
          <a:xfrm>
            <a:off x="6464808" y="3977640"/>
            <a:ext cx="237744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Action 3.3"/>
          <p:cNvSpPr txBox="1"/>
          <p:nvPr/>
        </p:nvSpPr>
        <p:spPr>
          <a:xfrm>
            <a:off x="6675120" y="352044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12000"/>
            </a:schemeClr>
          </a:solidFill>
          <a:ln w="1905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Sound System ON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2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NEXT GENERATION LIVING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Your home. Your intelligence</a:t>
            </a:r>
            <a:endParaRPr lang="en-US" sz="3600" dirty="0"/>
          </a:p>
        </p:txBody>
      </p:sp>
      <p:sp>
        <p:nvSpPr>
          <p:cNvPr id="4" name="Glass panel 122"/>
          <p:cNvSpPr/>
          <p:nvPr/>
        </p:nvSpPr>
        <p:spPr>
          <a:xfrm>
            <a:off x="548640" y="132588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Icon circle 123"/>
          <p:cNvSpPr/>
          <p:nvPr/>
        </p:nvSpPr>
        <p:spPr>
          <a:xfrm>
            <a:off x="731520" y="14447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con 123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1559052"/>
            <a:ext cx="228600" cy="228600"/>
          </a:xfrm>
          <a:prstGeom prst="rect">
            <a:avLst/>
          </a:prstGeom>
        </p:spPr>
      </p:pic>
      <p:sp>
        <p:nvSpPr>
          <p:cNvPr id="7" name="Text 124"/>
          <p:cNvSpPr txBox="1"/>
          <p:nvPr/>
        </p:nvSpPr>
        <p:spPr>
          <a:xfrm>
            <a:off x="73152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Observe habits</a:t>
            </a:r>
            <a:endParaRPr lang="en-US" sz="1500" dirty="0"/>
          </a:p>
        </p:txBody>
      </p:sp>
      <p:sp>
        <p:nvSpPr>
          <p:cNvPr id="8" name="Arrow 125"/>
          <p:cNvSpPr/>
          <p:nvPr/>
        </p:nvSpPr>
        <p:spPr>
          <a:xfrm>
            <a:off x="2313432" y="1920240"/>
            <a:ext cx="310896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Glass panel 126"/>
          <p:cNvSpPr/>
          <p:nvPr/>
        </p:nvSpPr>
        <p:spPr>
          <a:xfrm>
            <a:off x="2651760" y="132588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Icon circle 127"/>
          <p:cNvSpPr/>
          <p:nvPr/>
        </p:nvSpPr>
        <p:spPr>
          <a:xfrm>
            <a:off x="2834640" y="144475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con 127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8940" y="1559052"/>
            <a:ext cx="228600" cy="228600"/>
          </a:xfrm>
          <a:prstGeom prst="rect">
            <a:avLst/>
          </a:prstGeom>
        </p:spPr>
      </p:pic>
      <p:sp>
        <p:nvSpPr>
          <p:cNvPr id="12" name="Text 128"/>
          <p:cNvSpPr txBox="1"/>
          <p:nvPr/>
        </p:nvSpPr>
        <p:spPr>
          <a:xfrm>
            <a:off x="283464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Learn patterns</a:t>
            </a:r>
            <a:endParaRPr lang="en-US" sz="1500" dirty="0"/>
          </a:p>
        </p:txBody>
      </p:sp>
      <p:sp>
        <p:nvSpPr>
          <p:cNvPr id="13" name="Arrow 129"/>
          <p:cNvSpPr/>
          <p:nvPr/>
        </p:nvSpPr>
        <p:spPr>
          <a:xfrm>
            <a:off x="4416552" y="1920240"/>
            <a:ext cx="310896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Glass panel 130"/>
          <p:cNvSpPr/>
          <p:nvPr/>
        </p:nvSpPr>
        <p:spPr>
          <a:xfrm>
            <a:off x="4754880" y="132588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Icon circle 131"/>
          <p:cNvSpPr/>
          <p:nvPr/>
        </p:nvSpPr>
        <p:spPr>
          <a:xfrm>
            <a:off x="4937760" y="144475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con 131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1559052"/>
            <a:ext cx="228600" cy="228600"/>
          </a:xfrm>
          <a:prstGeom prst="rect">
            <a:avLst/>
          </a:prstGeom>
        </p:spPr>
      </p:pic>
      <p:sp>
        <p:nvSpPr>
          <p:cNvPr id="17" name="Text 132"/>
          <p:cNvSpPr txBox="1"/>
          <p:nvPr/>
        </p:nvSpPr>
        <p:spPr>
          <a:xfrm>
            <a:off x="493776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Optimize environment</a:t>
            </a:r>
            <a:endParaRPr lang="en-US" sz="1500" dirty="0"/>
          </a:p>
        </p:txBody>
      </p:sp>
      <p:sp>
        <p:nvSpPr>
          <p:cNvPr id="18" name="Arrow 133"/>
          <p:cNvSpPr/>
          <p:nvPr/>
        </p:nvSpPr>
        <p:spPr>
          <a:xfrm>
            <a:off x="6519672" y="1920240"/>
            <a:ext cx="310896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Glass panel 134"/>
          <p:cNvSpPr/>
          <p:nvPr/>
        </p:nvSpPr>
        <p:spPr>
          <a:xfrm>
            <a:off x="6858000" y="132588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Icon circle 135"/>
          <p:cNvSpPr/>
          <p:nvPr/>
        </p:nvSpPr>
        <p:spPr>
          <a:xfrm>
            <a:off x="7040880" y="144475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con 135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180" y="1559052"/>
            <a:ext cx="228600" cy="228600"/>
          </a:xfrm>
          <a:prstGeom prst="rect">
            <a:avLst/>
          </a:prstGeom>
        </p:spPr>
      </p:pic>
      <p:sp>
        <p:nvSpPr>
          <p:cNvPr id="22" name="Text 136"/>
          <p:cNvSpPr txBox="1"/>
          <p:nvPr/>
        </p:nvSpPr>
        <p:spPr>
          <a:xfrm>
            <a:off x="704088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Automate routines</a:t>
            </a:r>
            <a:endParaRPr lang="en-US" sz="1500" dirty="0"/>
          </a:p>
        </p:txBody>
      </p:sp>
      <p:sp>
        <p:nvSpPr>
          <p:cNvPr id="23" name="Loop down"/>
          <p:cNvSpPr/>
          <p:nvPr/>
        </p:nvSpPr>
        <p:spPr>
          <a:xfrm>
            <a:off x="7726680" y="251460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Loop across"/>
          <p:cNvSpPr/>
          <p:nvPr/>
        </p:nvSpPr>
        <p:spPr>
          <a:xfrm>
            <a:off x="1417320" y="2788920"/>
            <a:ext cx="63093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Loop up"/>
          <p:cNvSpPr/>
          <p:nvPr/>
        </p:nvSpPr>
        <p:spPr>
          <a:xfrm>
            <a:off x="1417320" y="251460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37"/>
          <p:cNvSpPr txBox="1"/>
          <p:nvPr/>
        </p:nvSpPr>
        <p:spPr>
          <a:xfrm>
            <a:off x="292608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CONTINUOUS LEARNING LOOP</a:t>
            </a:r>
            <a:endParaRPr lang="en-US" sz="1100" dirty="0"/>
          </a:p>
        </p:txBody>
      </p:sp>
      <p:sp>
        <p:nvSpPr>
          <p:cNvPr id="27" name="Glass panel 138"/>
          <p:cNvSpPr/>
          <p:nvPr/>
        </p:nvSpPr>
        <p:spPr>
          <a:xfrm>
            <a:off x="548640" y="3291840"/>
            <a:ext cx="8046720" cy="1234440"/>
          </a:xfrm>
          <a:prstGeom prst="roundRect">
            <a:avLst>
              <a:gd name="adj" fmla="val 8889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139"/>
          <p:cNvSpPr txBox="1"/>
          <p:nvPr/>
        </p:nvSpPr>
        <p:spPr>
          <a:xfrm>
            <a:off x="822960" y="3474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Artificial intelligence continuously learns your habits and optimizes your home environment automatically.</a:t>
            </a:r>
            <a:endParaRPr lang="en-US" sz="1600" dirty="0"/>
          </a:p>
        </p:txBody>
      </p:sp>
      <p:sp>
        <p:nvSpPr>
          <p:cNvPr id="29" name="Button 140"/>
          <p:cNvSpPr txBox="1"/>
          <p:nvPr/>
        </p:nvSpPr>
        <p:spPr>
          <a:xfrm>
            <a:off x="6126480" y="3474720"/>
            <a:ext cx="2194560" cy="502920"/>
          </a:xfrm>
          <a:prstGeom prst="roundRect">
            <a:avLst>
              <a:gd name="adj" fmla="val 36364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hlinkClick r:id="rId8"/>
              </a:rPr>
              <a:t>NETLIFY LINK</a:t>
            </a:r>
            <a:endParaRPr lang="en-US" sz="1400" dirty="0"/>
          </a:p>
        </p:txBody>
      </p:sp>
      <p:sp>
        <p:nvSpPr>
          <p:cNvPr id="30" name="Text 141"/>
          <p:cNvSpPr txBox="1"/>
          <p:nvPr/>
        </p:nvSpPr>
        <p:spPr>
          <a:xfrm>
            <a:off x="612648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5"/>
                </a:solidFill>
                <a:hlinkClick r:id="rId9"/>
              </a:rPr>
              <a:t>GITHUB LINK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Home 2050">
  <a:themeElements>
    <a:clrScheme name="Smart Home 2050">
      <a:dk1>
        <a:srgbClr val="0A0E27"/>
      </a:dk1>
      <a:lt1>
        <a:srgbClr val="FFFFFF"/>
      </a:lt1>
      <a:dk2>
        <a:srgbClr val="1B1F4B"/>
      </a:dk2>
      <a:lt2>
        <a:srgbClr val="C9D6FF"/>
      </a:lt2>
      <a:accent1>
        <a:srgbClr val="00E5FF"/>
      </a:accent1>
      <a:accent2>
        <a:srgbClr val="FF2E93"/>
      </a:accent2>
      <a:accent3>
        <a:srgbClr val="FFC400"/>
      </a:accent3>
      <a:accent4>
        <a:srgbClr val="7C4DFF"/>
      </a:accent4>
      <a:accent5>
        <a:srgbClr val="00E676"/>
      </a:accent5>
      <a:accent6>
        <a:srgbClr val="FF7043"/>
      </a:accent6>
      <a:hlink>
        <a:srgbClr val="00E5FF"/>
      </a:hlink>
      <a:folHlink>
        <a:srgbClr val="7C4DFF"/>
      </a:folHlink>
    </a:clrScheme>
    <a:fontScheme name="Smart Home 2050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284</Words>
  <Application>Microsoft Office PowerPoint</Application>
  <PresentationFormat>On-screen Show (16:9)</PresentationFormat>
  <Paragraphs>113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Smart Home 2050</vt:lpstr>
      <vt:lpstr>Welcome to your Smart Future</vt:lpstr>
      <vt:lpstr>Live Dashboard</vt:lpstr>
      <vt:lpstr>Smart Rooms</vt:lpstr>
      <vt:lpstr>Connected Devices</vt:lpstr>
      <vt:lpstr>Energy Monitoring</vt:lpstr>
      <vt:lpstr>Smart Routines</vt:lpstr>
      <vt:lpstr>Your home. Your intelligence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 2050</dc:title>
  <dc:subject>PptxGenJS Presentation</dc:subject>
  <dc:creator>PptxGenJS</dc:creator>
  <cp:lastModifiedBy>Arohan</cp:lastModifiedBy>
  <cp:revision>2</cp:revision>
  <dcterms:created xsi:type="dcterms:W3CDTF">2026-10-05T07:34:54Z</dcterms:created>
  <dcterms:modified xsi:type="dcterms:W3CDTF">2026-10-07T09:01:43Z</dcterms:modified>
</cp:coreProperties>
</file>